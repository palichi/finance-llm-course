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lgun Gothic"/>
              </a:rPr>
              <a:t>PPO 강화학습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Malgun Gothic"/>
              </a:rPr>
              <a:t>+  Advanced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E0EF"/>
                </a:solidFill>
                <a:latin typeface="Malgun Gothic"/>
              </a:rPr>
              <a:t>주식 매매 의사결정 시스템 설계 전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Malgun Gothic"/>
              </a:rPr>
              <a:t>데이터 수집 → 지표 계산 → 환경 구축 → 학습 → 추론 → RAG → LLM 설명 → 챗봇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Malgun Gothic"/>
              </a:rPr>
              <a:t>금융 LLM 실습  Day 3  |  01_golden_cross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전체 시스템 아키텍처 — PPO가 두뇌, RAG는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22960"/>
            <a:ext cx="3840480" cy="5212080"/>
          </a:xfrm>
          <a:prstGeom prst="rect">
            <a:avLst/>
          </a:prstGeom>
          <a:solidFill>
            <a:srgbClr val="0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166"/>
                </a:solidFill>
                <a:latin typeface="Malgun Gothic"/>
              </a:rPr>
              <a:t>주(主)  PPO 트랙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6576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①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stock_prices.csv
200종목 · 2년치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756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  <a:latin typeface="Malgun Gothic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36576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58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② 기술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SMA / RSI / 이격도
골든·데드크로스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900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  <a:latin typeface="Malgun Gothic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6576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72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③ 거래 환경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02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gymnasium TradingEnv
종목별 episode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044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  <a:latin typeface="Malgun Gothic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36576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87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④ PPO 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16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stable-baselines3
단일 정책망 200종목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188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  <a:latin typeface="Malgun Gothic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36576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⑤ 추론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30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매수 / 유보 / 매도
+ 확률 분포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822960"/>
            <a:ext cx="4114800" cy="5212080"/>
          </a:xfrm>
          <a:prstGeom prst="rect">
            <a:avLst/>
          </a:prstGeom>
          <a:solidFill>
            <a:srgbClr val="0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2B788"/>
                </a:solidFill>
                <a:latin typeface="Malgun Gothic"/>
              </a:rPr>
              <a:t>부(副)  Advanced RAG 트랙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325880"/>
            <a:ext cx="39319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344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⑥ 코퍼스 구축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6733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사례 카드 생성
PPO 판단 + 사후 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0756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B788"/>
                </a:solidFill>
                <a:latin typeface="Malgun Gothic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240280"/>
            <a:ext cx="39319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2585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⑦ 임베딩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587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KR-SBERT → ChromaDB
+ BM25 인덱스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9900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B788"/>
                </a:solidFill>
                <a:latin typeface="Malgun Gothic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154680"/>
            <a:ext cx="39319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1729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⑧ Advanced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5021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Query Expansion
Hybrid Search · RRF · Rerank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9044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B788"/>
                </a:solidFill>
                <a:latin typeface="Malgun Gothic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069080"/>
            <a:ext cx="39319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0873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⑨ LLM 설명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4165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Claude Haiku
자연어 한국어 설명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188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B788"/>
                </a:solidFill>
                <a:latin typeface="Malgun Gothic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4983480"/>
            <a:ext cx="39319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5001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⑩ 챗봇 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3309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Streamlit
종목명 입력 → 판단 +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166"/>
                </a:solidFill>
                <a:latin typeface="Malgun Gothic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95928" y="502920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166"/>
                </a:solidFill>
                <a:latin typeface="Malgun Gothic"/>
              </a:rPr>
              <a:t>PPO 결정
후 호출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1  데이터 수집 · 구조 파악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  <a:latin typeface="Malgun Gothic"/>
              </a:rPr>
              <a:t>금융위원회 공공데이터 포털 — stock_prices.csv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234440"/>
            <a:ext cx="29260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234440"/>
            <a:ext cx="33832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Malgun Gothic"/>
              </a:rPr>
              <a:t>컬럼명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280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Malgun Gothic"/>
              </a:rPr>
              <a:t>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Malgun Gothic"/>
              </a:rPr>
              <a:t>실습에서의 역할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27632"/>
            <a:ext cx="228600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627632"/>
            <a:ext cx="29260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27632"/>
            <a:ext cx="33832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91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srtnCd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종목코드(6자리)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종목 구분 기준 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57400"/>
            <a:ext cx="228600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2057400"/>
            <a:ext cx="29260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2057400"/>
            <a:ext cx="33832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21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basDt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기준일자 YYYYMMDD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시간축·정렬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87168"/>
            <a:ext cx="228600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2487168"/>
            <a:ext cx="29260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487168"/>
            <a:ext cx="33832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55117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clpr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25511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종가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55117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지표 계산의 핵심값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16936"/>
            <a:ext cx="228600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0" y="2916936"/>
            <a:ext cx="29260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2916936"/>
            <a:ext cx="33832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80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mkp/hipr/lopr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2980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시가·고가·저가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980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State 구성 참고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346704"/>
            <a:ext cx="228600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0" y="3346704"/>
            <a:ext cx="29260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3346704"/>
            <a:ext cx="3383280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410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trqu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410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거래량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신호 품질 향상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76472"/>
            <a:ext cx="228600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0" y="3776472"/>
            <a:ext cx="29260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3776472"/>
            <a:ext cx="338328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itmsNm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종목명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Malgun Gothic"/>
              </a:rPr>
              <a:t>챗봇 질의 매핑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166"/>
                </a:solidFill>
                <a:latin typeface="Malgun Gothic"/>
              </a:rPr>
              <a:t>종목 수: 200개  ·  기간: 2024-01-02 ~ 2026-06-18  ·  종목당 행 수: 138 ~ 598  ·  전체 약 117,000행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50292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Malgun Gothic"/>
              </a:rPr>
              <a:t>※ Long format — 한 파일에 전 종목, srtnCd 컬럼으로 종목 구분 (groupby 필수)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2  기술 지표 계산 (indicators/technical.py)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83464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50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Malgun Gothic"/>
              </a:rPr>
              <a:t>SMA 5/20/60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단순 이동평균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골든·데드크로스 기준
State 이격률 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914400"/>
            <a:ext cx="283464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91440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950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Malgun Gothic"/>
              </a:rPr>
              <a:t>EMA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지수 이동평균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최근 가격에 더 높은 가중치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914400"/>
            <a:ext cx="283464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950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Malgun Gothic"/>
              </a:rPr>
              <a:t>골든·데드크로스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SMA5 vs SMA20 돌파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golden_flag / dead_flag (0/1)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283464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98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Malgun Gothic"/>
              </a:rPr>
              <a:t>이격도20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94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(종가/SMA20)×100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과열≥105, 침체≤95, 중립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383280"/>
            <a:ext cx="283464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338328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4198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Malgun Gothic"/>
              </a:rPr>
              <a:t>RSI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794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Wilder's Smoothing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2519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과매수≥70, 과매도≤30
rsi14_norm = (RSI-50)/50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66360"/>
            <a:ext cx="8595360" cy="64008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핵심 원칙: srtnCd 별 groupby 계산 — 종목 경계를 절대 넘지 않는다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  <a:latin typeface="Malgun Gothic"/>
              </a:rPr>
              <a:t>신규상장 등 lookback 20일 미만 종목/구간 → 학습·추론 대상에서 제외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3  강화학습 설계 — State · Action ·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96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Malgun Gothic"/>
              </a:rPr>
              <a:t>State  (9차원 × 20일)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167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SMA5 이격률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465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SMA20 이격률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762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SMA60 이격률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3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골든크로스 플래그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358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데드크로스 플래그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6557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이격도20 (중심화)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9534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RSI14 (정규화)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251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현재 포지션 (0/1)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7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미실현 손익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868680"/>
            <a:ext cx="256032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868680"/>
            <a:ext cx="256032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896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Malgun Gothic"/>
              </a:rPr>
              <a:t>Action  (Discrete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417320"/>
            <a:ext cx="2286000" cy="8686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Malgun Gothi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645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Malgun Gothic"/>
              </a:rPr>
              <a:t>매도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97480"/>
            <a:ext cx="2286000" cy="8686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2770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166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926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166"/>
                </a:solidFill>
                <a:latin typeface="Malgun Gothic"/>
              </a:rPr>
              <a:t>유보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977639"/>
            <a:ext cx="2286000" cy="8686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2B788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2B788"/>
                </a:solidFill>
                <a:latin typeface="Malgun Gothic"/>
              </a:rPr>
              <a:t>매수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86868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868680"/>
            <a:ext cx="283464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896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Malgun Gothic"/>
              </a:rPr>
              <a:t>Reward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32588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기본 보상</a:t>
            </a:r>
          </a:p>
          <a:p>
            <a:pPr algn="l"/>
            <a:r>
              <a:rPr sz="1200" b="0">
                <a:solidFill>
                  <a:srgbClr val="90E0EF"/>
                </a:solidFill>
                <a:latin typeface="Malgun Gothic"/>
              </a:rPr>
              <a:t>자산가치 변화율</a:t>
            </a:r>
          </a:p>
          <a:p>
            <a:pPr algn="l"/>
            <a:r>
              <a:rPr sz="1200" b="0">
                <a:solidFill>
                  <a:srgbClr val="90E0EF"/>
                </a:solidFill>
                <a:latin typeface="Malgun Gothic"/>
              </a:rPr>
              <a:t>− 거래비용 0.2~0.3%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  <a:latin typeface="Malgun Gothic"/>
              </a:rPr>
              <a:t>셰이핑 (Shaping)</a:t>
            </a:r>
          </a:p>
          <a:p>
            <a:pPr algn="l"/>
            <a:r>
              <a:rPr sz="1200" b="0">
                <a:solidFill>
                  <a:srgbClr val="FF6B6B"/>
                </a:solidFill>
                <a:latin typeface="Malgun Gothic"/>
              </a:rPr>
              <a:t>RSI&gt;70 매수 시  −0.10</a:t>
            </a:r>
          </a:p>
          <a:p>
            <a:pPr algn="l"/>
            <a:r>
              <a:rPr sz="1200" b="0">
                <a:solidFill>
                  <a:srgbClr val="52B788"/>
                </a:solidFill>
                <a:latin typeface="Malgun Gothic"/>
              </a:rPr>
              <a:t>골든크로스 보유 유지  +0.05</a:t>
            </a:r>
          </a:p>
          <a:p>
            <a:pPr algn="l"/>
            <a:r>
              <a:rPr sz="1200" b="0">
                <a:solidFill>
                  <a:srgbClr val="FF6B6B"/>
                </a:solidFill>
                <a:latin typeface="Malgun Gothic"/>
              </a:rPr>
              <a:t>이격도&gt;110 매수 시  −0.10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가중치 → config 분리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on/off 플래그 제공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발동 횟수 카운트 로깅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4-5  PPO 학습 전략 (train/run_training.py)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Malgun Gothic"/>
              </a:rPr>
              <a:t>모델 1개 — 200종목의 Episode를 섞어서 단일 정책망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Malgun Gothic"/>
              </a:rPr>
              <a:t>종목코드(srtnCd)는 State에 포함하지 않음 → 지표 패턴의 일반 규칙 학습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411480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algun Gothic"/>
              </a:rPr>
              <a:t>데이터 분할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40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408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~2025-12-31 (약 80%)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24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249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2026-01-01~ (약 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08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Malgun Gothic"/>
              </a:rPr>
              <a:t>룩어헤드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108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종목 내 시간 기준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93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Malgun Gothic"/>
              </a:rPr>
              <a:t>증분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930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N스텝마다 val 성과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874519"/>
            <a:ext cx="429768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algun Gothic"/>
              </a:rPr>
              <a:t>PPO 하이퍼파라미터 (config 분리)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340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알고리즘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4086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PPO (stable-baselines3)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724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정책망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249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MlpPolicy  [64, 64]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08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n_steps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1089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2048  · batch_size 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493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gamma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0.99  · lr 3e-4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14800"/>
            <a:ext cx="859536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966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  <a:latin typeface="Malgun Gothic"/>
              </a:rPr>
              <a:t>Validation 성과 평가 지표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44568"/>
            <a:ext cx="1920240" cy="82296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63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Malgun Gothic"/>
              </a:rPr>
              <a:t>누적 수익률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4544568"/>
            <a:ext cx="1920240" cy="82296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663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Malgun Gothic"/>
              </a:rPr>
              <a:t>MDD (최대 낙폭)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544568"/>
            <a:ext cx="1920240" cy="82296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663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Malgun Gothic"/>
              </a:rPr>
              <a:t>샤프 비율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20" y="4544568"/>
            <a:ext cx="1920240" cy="82296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663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Malgun Gothic"/>
              </a:rPr>
              <a:t>승률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algun Gothic"/>
              </a:rPr>
              <a:t>최고 Validation 성과 체크포인트 → models/best_model.zip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6  추론 + 수치 근거 (inference · explain/rule_based)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1554480" cy="640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1463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종목코드 / 종목명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097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914400"/>
            <a:ext cx="1554480" cy="640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79" y="987552"/>
            <a:ext cx="1463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최근 20일 데이터 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097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914400"/>
            <a:ext cx="1554480" cy="640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987552"/>
            <a:ext cx="1463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지표 계산 → State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097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79" y="914400"/>
            <a:ext cx="1554480" cy="640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399" y="987552"/>
            <a:ext cx="1463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PPO 모델 추론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7" y="1097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914400"/>
            <a:ext cx="1554480" cy="640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987552"/>
            <a:ext cx="1463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Action + 확률 분포 반환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4114800" cy="3931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828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Malgun Gothic"/>
              </a:rPr>
              <a:t>explain/rule_based.py 출력 (LLM 미사용 · 결정론적)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24028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RSI14 구간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2402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과매수(≥70) / 과매도(≤30) / 중립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78892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이격도20 구간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7889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과열(≥105) / 침체(≤95) / 중립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3375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크로스 여부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golden_flag / dead_flag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8620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algun Gothic"/>
              </a:rPr>
              <a:t>Shaping 발동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8862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RSI 매수 페널티 / 골든크로스 보너스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Malgun Gothic"/>
              </a:rPr>
              <a:t>확신도 낮음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4348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1·2위 확률 차 &lt; 10%p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8348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action_probs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9834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BUY / HOLD / SELL 확률 전체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1783080"/>
            <a:ext cx="4297680" cy="3931920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1828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Malgun Gothic"/>
              </a:rPr>
              <a:t>출력 예시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24028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  <a:latin typeface="Malgun Gothic"/>
              </a:rPr>
              <a:t>[000080  하이트진로]
기준일: 2025-06-05
최근 5일 종가: 22,300 → 22,150
판단: 매수  (확률 62%)
유보 31%  ·  매도 7%
RSI14 = 58.2  (중립)
이격도20 = 102.1  (중립)
골든크로스 4일 전 발생
확신도: 보통 (차이 31%p)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6-1  왜 Advanced RAG가 필요한가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412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algun Gothic"/>
              </a:rPr>
              <a:t>PPO는 '매수'를 결정하지만, '과거에 이런 패턴이 있었는가? 그때 어떻게 됐는가?'는 알지 못합니다.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416052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4160520" cy="347472"/>
          </a:xfrm>
          <a:prstGeom prst="rect">
            <a:avLst/>
          </a:prstGeom>
          <a:solidFill>
            <a:srgbClr val="6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문제: 수치 조건 검색 약함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벡터 검색만으로는 'RSI=70'처럼
정확한 숫자 조건을 놓칠 수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algun Gothic"/>
              </a:rPr>
              <a:t>→ 해법: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8716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Hybrid Search
(벡터 + BM25 키워드)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371600"/>
            <a:ext cx="416052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59" y="1371600"/>
            <a:ext cx="4160520" cy="347472"/>
          </a:xfrm>
          <a:prstGeom prst="rect">
            <a:avLst/>
          </a:prstGeom>
          <a:solidFill>
            <a:srgbClr val="6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1408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문제: 검색 커버리지 좁음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1783080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'지금 사도 될까?' 한 문장만으론
관련 사례를 다 못 찾음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599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algun Gothic"/>
              </a:rPr>
              <a:t>→ 해법: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48716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Query Expansion
(조건별 쿼리 5개로 확장)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03320"/>
            <a:ext cx="416052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4160520" cy="347472"/>
          </a:xfrm>
          <a:prstGeom prst="rect">
            <a:avLst/>
          </a:prstGeom>
          <a:solidFill>
            <a:srgbClr val="6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398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문제: 관련 없는 사례 혼입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의미적으로만 비슷한 게 아니라
수치 조건도 맞아야 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18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algun Gothic"/>
              </a:rPr>
              <a:t>→ 해법: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1888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Metadata Filtering
(RSI/이격도 범위 · 날짜 필터)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3703320"/>
            <a:ext cx="416052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59" y="3703320"/>
            <a:ext cx="4160520" cy="347472"/>
          </a:xfrm>
          <a:prstGeom prst="rect">
            <a:avLst/>
          </a:prstGeom>
          <a:solidFill>
            <a:srgbClr val="6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599" y="37398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문제: 1차 검색 노이즈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599" y="4114800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벡터 유사도 1위가 실제로는
관련성이 낮을 수 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4818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algun Gothic"/>
              </a:rPr>
              <a:t>→ 해법: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481888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Reranking
(코사인 유사도 재정렬)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7-A  RAG Corpus 구축 (corpus/build_corpus.py)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41248"/>
            <a:ext cx="8595360" cy="1234440"/>
          </a:xfrm>
          <a:prstGeom prst="rect">
            <a:avLst/>
          </a:prstGeom>
          <a:solidFill>
            <a:srgbClr val="0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algun Gothic"/>
              </a:rPr>
              <a:t>사례 카드 텍스트 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Malgun Gothic"/>
              </a:rPr>
              <a:t>하이트진로(000080) 2025-06-05: RSI14=58.2(중립), 이격도20=102.1(중립), 골든크로스=있음, 데드크로스=없음, 당시 PPO 판단=매수(확률 62%), 관련 공시 없음.  이후 5일 수익률=+2.1%, 10일 수익률=+3.8%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주가 CSV
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지표 계산
(종목별)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PPO 추론
(각 날짜)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사례 카드
텍스트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2B788"/>
                </a:solidFill>
                <a:latin typeface="Malgun Gothic"/>
              </a:rPr>
              <a:t>KR-SBERT
임베딩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286000"/>
            <a:ext cx="132588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3774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2B788"/>
                </a:solidFill>
                <a:latin typeface="Malgun Gothic"/>
              </a:rPr>
              <a:t>ChromaDB
+ BM25 저장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337560"/>
            <a:ext cx="411480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3832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Malgun Gothic"/>
              </a:rPr>
              <a:t>ChromaDB 저장 메타데이터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ticker · name ·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970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rsi14 · disparity20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99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golden_flag · dead_flag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01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ppo_action · ppo_prob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0410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ret5 · ret10 (사후 수익률)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337560"/>
            <a:ext cx="429768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383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Malgun Gothic"/>
              </a:rPr>
              <a:t>BM25 키워드 인덱스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rank_bm25 (BM25Okapi)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1970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한/영 숫자 토크나이징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599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corpus/bm25_index.pkl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001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증분 업데이트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4041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• Hybrid Search에서 병렬 사용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83387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Malgun Gothic"/>
              </a:rPr>
              <a:t>사후 수익률(5/10일)은 '기록' 목적 — PPO 학습에 미사용 (데이터 누설 아님)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7-B  Advanced RAG 4단계 파이프라인 (rag_retriever.py)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64008" cy="2423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9235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Malgun Gothic"/>
              </a:rPr>
              <a:t>1  Query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344168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규칙 기반 템플릿으로 쿼리 최대 5개 생성
예) 'RSI 과매수 매수 사례' · '골든크로스 직후 유보 사례'
LLM 대신 규칙 템플릿 → 속도·비용 우선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86868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59" y="868680"/>
            <a:ext cx="4160520" cy="4114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868680"/>
            <a:ext cx="64008" cy="24231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9235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  <a:latin typeface="Malgun Gothic"/>
              </a:rPr>
              <a:t>2  Hybrid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344168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벡터 검색 (ChromaDB cosine)
+ BM25 키워드 검색 동시 수행
RRF (Reciprocal Rank Fusion)로 점수 결합
스케일 정규화 불필요 · 이상치에 강건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39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20439"/>
            <a:ext cx="4160520" cy="4114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39"/>
            <a:ext cx="64008" cy="2423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57530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algun Gothic"/>
              </a:rPr>
              <a:t>3  Metadata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995927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RSI ±10 · 이격도 ±5 범위 내 사례만 통과
자기참조 방지: 현재 날짜 이후 데이터 제외
후보 3건 미만 → 범위 2배/4배 단계적 완화
(Fallback 3단계)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520439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59" y="3520439"/>
            <a:ext cx="4160520" cy="41148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59" y="3520439"/>
            <a:ext cx="64008" cy="2423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57530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Malgun Gothic"/>
              </a:rPr>
              <a:t>4  Reranking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95927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쿼리 임베딩 vs 사례 임베딩 코사인 유사도
ChromaDB 임베딩 재사용 → 추가 forward 없음
최종 점수: 0.6×코사인 + 0.4×RRF×100
Top-K (기본 5건) 반환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093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Malgun Gothic"/>
              </a:rPr>
              <a:t>모든 모델·인덱스 — 모듈 로드 시 1회만 초기화 (매 호출마다 재로딩 금지)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8  LLM 자연어 설명 생성 (llm_explainer.py)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  <a:latin typeface="Malgun Gothic"/>
              </a:rPr>
              <a:t>ExplainResult
(수치 근거)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188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2B788"/>
                </a:solidFill>
                <a:latin typeface="Malgun Gothic"/>
              </a:rPr>
              <a:t>RAGResult
(Top-5 사례)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188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프롬프트
조립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188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6B6B"/>
                </a:solidFill>
                <a:latin typeface="Malgun Gothic"/>
              </a:rPr>
              <a:t>Claude
Haiku 4-5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1188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  <a:latin typeface="Malgun Gothic"/>
              </a:rPr>
              <a:t>검증
(숫자·인용)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1188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914400"/>
            <a:ext cx="132588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1005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자연어
설명 출력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20240"/>
            <a:ext cx="4114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965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algun Gothic"/>
              </a:rPr>
              <a:t>이중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Malgun Gothic"/>
              </a:rPr>
              <a:t>숫자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72491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LLM 응답의 수치가 실제 RSI14/이격도20/
확률과 ±1.0 이내인지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Malgun Gothic"/>
              </a:rPr>
              <a:t>인용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307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(종목코드, 날짜) 형태 인용이 실제
RAG 검색결과에 존재하는지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920240"/>
            <a:ext cx="42976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1965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  <a:latin typeface="Malgun Gothic"/>
              </a:rPr>
              <a:t>Fallback 템플릿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API 오류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957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ANTHROPIC_API_KEY 없음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숫자 불일치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검증 실패 시 자동 전환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273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인용 오류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735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없는 사례 인용 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7124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폴백 출력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124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수치 기반 4문장 한국어 설명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43400"/>
            <a:ext cx="8595360" cy="1371600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389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algun Gothic"/>
              </a:rPr>
              <a:t>시스템 프롬프트 핵심 원칙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77316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• 주어진 수치 데이터와 검색된 과거 사례만으로 설명 — 추측·새로운 판단 금지
• 사례 인용 시 반드시 (종목코드, 날짜) 출처 표기
• 검색 사례 없으면 '참고 사례를 찾지 못했습니다' 명시, 절대 지어내지 않음
• 확신도 낮음 플래그 켜진 경우 반드시 언급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STEP 9  Streamlit 챗봇 완성 (app.py)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  <a:latin typeface="Malgun Gothic"/>
              </a:rPr>
              <a:t>사용자 입력 → 종목 추출 → PPO 추론 → 수치 근거 → RAG 검색 → LLM 설명 → 채팅 출력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41148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algun Gothic"/>
              </a:rPr>
              <a:t>UI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사이드바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종목 selectbox
모델 로딩 상태
대화 초기화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채팅창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432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매수/유보/매도 색상 배지
action_probs 막대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93008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Expander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9300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Top-K 사례 원문
사후 수익률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4281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  <a:latin typeface="Malgun Gothic"/>
              </a:rPr>
              <a:t>모델 부재 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42816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입력 블록 + 안내 메시지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508760"/>
            <a:ext cx="4297680" cy="3474720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554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  <a:latin typeface="Malgun Gothic"/>
              </a:rPr>
              <a:t>출력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96596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Malgun Gothic"/>
              </a:rPr>
              <a:t>사용자: 하이트진로 지금 사도 될까?
[매수]  매수 62% / 유보 31% / 매도 7%
현재 RSI14는 58.2로 중립 구간이며,
이격도20도 102.1로 과열되지 않은 상태입니다.
4일 전 골든크로스 발생 — 추세 추종 보너스 조건.
과거 유사 사례(000080, 2024-11-12)에서도
비슷한 패턴 이후 5일 +2.1% 상승 경향.
▸ 참고한 과거 사례 (펼치기)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20640"/>
            <a:ext cx="8595360" cy="59436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846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B6B"/>
                </a:solidFill>
                <a:latin typeface="Malgun Gothic"/>
              </a:rPr>
              <a:t>이 답변은 과거 데이터 기반 모델의 참고 지표이며 투자 자문이 아닙니다.
실제 매매는 본인 판단과 책임 하에 결정하세요.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0BEC5"/>
                </a:solidFill>
                <a:latin typeface="Malgun Gothic"/>
              </a:rPr>
              <a:t>streamlit run 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Malgun Gothic"/>
              </a:rPr>
              <a:t>전체 데이터 흐름 요약 — 설계 핵심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Malgun Gothic"/>
              </a:rPr>
              <a:t>PPO 강화학습 + Advanced RAG  |  금융 LLM 실습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stock_prices.csv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indicators/
technical.py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env/
trading_env.py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train/
run_training.py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models/
best_model.zip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inference/
predict.py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12801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algun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914400"/>
            <a:ext cx="109728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005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4D8"/>
                </a:solidFill>
                <a:latin typeface="Malgun Gothic"/>
              </a:rPr>
              <a:t>explain/
rule_based.py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731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algun Gothic"/>
              </a:rPr>
              <a:t>주(主) PPO 트랙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286000"/>
            <a:ext cx="192024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2B788"/>
                </a:solidFill>
                <a:latin typeface="Malgun Gothic"/>
              </a:rPr>
              <a:t>corpus/
build_corpus.py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7128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B788"/>
                </a:solidFill>
                <a:latin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2286000"/>
            <a:ext cx="192024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79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2B788"/>
                </a:solidFill>
                <a:latin typeface="Malgun Gothic"/>
              </a:rPr>
              <a:t>chroma_db/
bm25_index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B788"/>
                </a:solidFill>
                <a:latin typeface="Malgun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286000"/>
            <a:ext cx="192024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2B788"/>
                </a:solidFill>
                <a:latin typeface="Malgun Gothic"/>
              </a:rPr>
              <a:t>rag_retriever.py
(4단계)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B788"/>
                </a:solidFill>
                <a:latin typeface="Malgun Gothi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79" y="2286000"/>
            <a:ext cx="192024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7999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2B788"/>
                </a:solidFill>
                <a:latin typeface="Malgun Gothic"/>
              </a:rPr>
              <a:t>llm_explainer.py
Claude Haiku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  <a:latin typeface="Malgun Gothic"/>
              </a:rPr>
              <a:t>부(副) Advanced RAG 트랙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algun Gothic"/>
              </a:rPr>
              <a:t>↓  PPO 결정 후 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20440"/>
            <a:ext cx="859536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520440"/>
            <a:ext cx="73152" cy="1005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5844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algun Gothic"/>
              </a:rPr>
              <a:t>결합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3584448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app.py (Streamlit 챗봇)  —  '[종목] 매수/매도/유보 + 과거 유사 사례 근거 + 자연어 설명'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0507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algun Gothic"/>
              </a:rPr>
              <a:t>PPO가 결정 → RAG가 설명 보강 → LLM이 자연어로 변환  |  RAG는 PPO 결정을 바꾸지 않는다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9160"/>
            <a:ext cx="4206240" cy="45720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76402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algun Gothic"/>
              </a:rPr>
              <a:t>srtnCd 경계 준수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4519" y="476402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지표·episode 계산에서 종목 간 데이터 혼합 절대 금지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4709160"/>
            <a:ext cx="4206240" cy="45720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476402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algun Gothic"/>
              </a:rPr>
              <a:t>PPO 主 / RAG 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76402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RAG는 설명만, PPO 결정을 바꾸거나 선행 호출 금지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39512"/>
            <a:ext cx="4206240" cy="45720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294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algun Gothic"/>
              </a:rPr>
              <a:t>결정론적 수치 근거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19" y="5294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rule_based.py — LLM 미사용, 데이터에서 직접 계산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5239512"/>
            <a:ext cx="4206240" cy="457200"/>
          </a:xfrm>
          <a:prstGeom prst="rect">
            <a:avLst/>
          </a:prstGeom>
          <a:solidFill>
            <a:srgbClr val="0A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5294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algun Gothic"/>
              </a:rPr>
              <a:t>폴백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294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LLM/RAG 실패 시 수치 기반 템플릿으로 자동 전환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E0EF"/>
                </a:solidFill>
                <a:latin typeface="Malgun Gothic"/>
              </a:rPr>
              <a:t>핵심 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algun Gothic"/>
              </a:rPr>
              <a:t>PPO가 먼저 매수/매도/유보를 결정하고,
Advanced RAG가 과거 유사 사례로 그 이유를 설명하며,
Claude가 자연어로 번역한다.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데이터 수집 · 전처리 (srtnCd groupby)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38328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기술 지표 계산 (RSI · 이격도 · 크로스)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TradingEnv (포지션 · 미실현손익 · 거래비용)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8862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PPO 학습 (200종목 단일 정책망)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추론 + 수치 근거 (rule_based, 결정론적)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38912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RAG Corpus 구축 (ChromaDB + BM25)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Advanced RAG 4단계 (Expansion·Hybrid·Filter·Rerank)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89204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LLM 설명 생성 (Claude Haiku + 이중 검증 + 폴백)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B788"/>
                </a:solidFill>
                <a:latin typeface="Malgun Gothic"/>
              </a:rPr>
              <a:t>✓  Streamlit 챗봇 (종목명 입력 → 판단 + 근거)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Malgun Gothic"/>
              </a:rPr>
              <a:t>금융 LLM 실습  Day 3  |  01_golden_cross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